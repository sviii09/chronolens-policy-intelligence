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Source Sans 3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1DADF-BF3E-402C-A069-4A59E27FEC49}" v="1" dt="2026-01-23T02:53:27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vi Vongur" userId="d258c1a373750962" providerId="LiveId" clId="{3D118880-DBD2-424F-A236-955537E4A5CD}"/>
    <pc:docChg chg="custSel modSld">
      <pc:chgData name="Manasvi Vongur" userId="d258c1a373750962" providerId="LiveId" clId="{3D118880-DBD2-424F-A236-955537E4A5CD}" dt="2026-01-23T03:07:47.344" v="161" actId="21"/>
      <pc:docMkLst>
        <pc:docMk/>
      </pc:docMkLst>
      <pc:sldChg chg="addSp delSp modSp mod">
        <pc:chgData name="Manasvi Vongur" userId="d258c1a373750962" providerId="LiveId" clId="{3D118880-DBD2-424F-A236-955537E4A5CD}" dt="2026-01-23T03:07:47.344" v="161" actId="21"/>
        <pc:sldMkLst>
          <pc:docMk/>
          <pc:sldMk cId="0" sldId="256"/>
        </pc:sldMkLst>
        <pc:spChg chg="mod">
          <ac:chgData name="Manasvi Vongur" userId="d258c1a373750962" providerId="LiveId" clId="{3D118880-DBD2-424F-A236-955537E4A5CD}" dt="2026-01-23T03:00:07.577" v="160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Manasvi Vongur" userId="d258c1a373750962" providerId="LiveId" clId="{3D118880-DBD2-424F-A236-955537E4A5CD}" dt="2026-01-23T02:56:31.464" v="155"/>
          <ac:spMkLst>
            <pc:docMk/>
            <pc:sldMk cId="0" sldId="256"/>
            <ac:spMk id="4" creationId="{BA9CDBA0-83EF-6400-3DFD-0B7B25747227}"/>
          </ac:spMkLst>
        </pc:spChg>
        <pc:graphicFrameChg chg="add del modGraphic">
          <ac:chgData name="Manasvi Vongur" userId="d258c1a373750962" providerId="LiveId" clId="{3D118880-DBD2-424F-A236-955537E4A5CD}" dt="2026-01-23T02:51:42.234" v="2" actId="21"/>
          <ac:graphicFrameMkLst>
            <pc:docMk/>
            <pc:sldMk cId="0" sldId="256"/>
            <ac:graphicFrameMk id="3" creationId="{0CF57C40-5814-48CE-0316-4F0687F5DDD3}"/>
          </ac:graphicFrameMkLst>
        </pc:graphicFrameChg>
        <pc:graphicFrameChg chg="add del mod modGraphic">
          <ac:chgData name="Manasvi Vongur" userId="d258c1a373750962" providerId="LiveId" clId="{3D118880-DBD2-424F-A236-955537E4A5CD}" dt="2026-01-23T03:07:47.344" v="161" actId="21"/>
          <ac:graphicFrameMkLst>
            <pc:docMk/>
            <pc:sldMk cId="0" sldId="256"/>
            <ac:graphicFrameMk id="5" creationId="{CC019528-9389-F4A6-428F-7CDA6409DEF8}"/>
          </ac:graphicFrameMkLst>
        </pc:graphicFrameChg>
      </pc:sldChg>
      <pc:sldChg chg="modSp mod">
        <pc:chgData name="Manasvi Vongur" userId="d258c1a373750962" providerId="LiveId" clId="{3D118880-DBD2-424F-A236-955537E4A5CD}" dt="2026-01-23T02:53:05.313" v="6" actId="20577"/>
        <pc:sldMkLst>
          <pc:docMk/>
          <pc:sldMk cId="0" sldId="258"/>
        </pc:sldMkLst>
        <pc:spChg chg="mod">
          <ac:chgData name="Manasvi Vongur" userId="d258c1a373750962" providerId="LiveId" clId="{3D118880-DBD2-424F-A236-955537E4A5CD}" dt="2026-01-23T02:53:05.313" v="6" actId="20577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55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08622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ChronoLens: Time-Aware RAG for Policy &amp; Public Affairs Intelligence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56166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Challenge: Navigating Complex Policy Landscapes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528888"/>
            <a:ext cx="6327934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33318" y="2528888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32535" y="2806184"/>
            <a:ext cx="36367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Fragmented Information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2535" y="3304818"/>
            <a:ext cx="5681901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Policy documents are often extensive, disparate, and scattered across numerous institutional sources, making comprehensive analysis a significant hurdle.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549" y="2528888"/>
            <a:ext cx="6328053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08069" y="2528888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807285" y="280618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Temporal Opacity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07285" y="3304818"/>
            <a:ext cx="568202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the evolution of policies is notoriously difficult due to a lack of explicit temporal organisation and inconsistent version tracking.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3798" y="4939427"/>
            <a:ext cx="6327934" cy="2533888"/>
          </a:xfrm>
          <a:prstGeom prst="roundRect">
            <a:avLst>
              <a:gd name="adj" fmla="val 5774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318" y="4939427"/>
            <a:ext cx="121920" cy="253388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32535" y="5216723"/>
            <a:ext cx="386810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Static Analysis Limitations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2535" y="5715357"/>
            <a:ext cx="5681901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existing tools treat policy documents as static entities, severely hindering efficient and accurate longitudinal analysis.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4939427"/>
            <a:ext cx="6328053" cy="2533888"/>
          </a:xfrm>
          <a:prstGeom prst="roundRect">
            <a:avLst>
              <a:gd name="adj" fmla="val 5774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408069" y="4939427"/>
            <a:ext cx="121920" cy="253388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07285" y="521672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Overload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07285" y="5715357"/>
            <a:ext cx="568202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Researchers and analysts frequently resort to time-consuming manual comparisons, a method that simply cannot scale with the ever-increasing volume of policy documents.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7632" y="645200"/>
            <a:ext cx="10615136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 ChronoLens:  Time-Aware Policy Intelligence System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007632" y="2137053"/>
            <a:ext cx="8955286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ChronoLens is a cutting-edge, time-aware retrieval system specifically engineered to facilitate comprehensive longitudinal policy analysis. It addresses the critical need for understanding policy evolution.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2007632" y="2898577"/>
            <a:ext cx="738426" cy="1369695"/>
          </a:xfrm>
          <a:prstGeom prst="roundRect">
            <a:avLst>
              <a:gd name="adj" fmla="val 36000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38375" y="3410307"/>
            <a:ext cx="27682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2930604" y="3083123"/>
            <a:ext cx="2097762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Grounded Analysis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930604" y="3529846"/>
            <a:ext cx="8032313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Utilises Retrieval-Augmented Generation (RAG) to ensure all analyses are firmly rooted in authoritative documents, rather than relying solely on model memory.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007632" y="4452818"/>
            <a:ext cx="738426" cy="1369695"/>
          </a:xfrm>
          <a:prstGeom prst="roundRect">
            <a:avLst>
              <a:gd name="adj" fmla="val 36000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38375" y="4964549"/>
            <a:ext cx="27682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2930604" y="4637365"/>
            <a:ext cx="2317552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Structured Approach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930604" y="5084088"/>
            <a:ext cx="8032313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Prioritises meticulous data organisation, precise temporal context, and robust source attribution over simplistic chatbot-style interactions.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007632" y="6007060"/>
            <a:ext cx="738426" cy="1369695"/>
          </a:xfrm>
          <a:prstGeom prst="roundRect">
            <a:avLst>
              <a:gd name="adj" fmla="val 360009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38375" y="6518791"/>
            <a:ext cx="27682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2930604" y="6191607"/>
            <a:ext cx="2296358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Dynamic Exploration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930604" y="6638330"/>
            <a:ext cx="8032313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Empowers users to dynamically explore and identify how policy narratives and strategic priorities have shifted across various timeframes and sources.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20832" y="2137053"/>
            <a:ext cx="1209437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58" y="664488"/>
            <a:ext cx="9160193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Capabilities of ChronoLens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43558" y="2072164"/>
            <a:ext cx="6351151" cy="2445187"/>
          </a:xfrm>
          <a:prstGeom prst="roundRect">
            <a:avLst>
              <a:gd name="adj" fmla="val 5983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43558" y="2041684"/>
            <a:ext cx="6351151" cy="121920"/>
          </a:xfrm>
          <a:prstGeom prst="roundRect">
            <a:avLst>
              <a:gd name="adj" fmla="val 296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540" y="1710690"/>
            <a:ext cx="723067" cy="723067"/>
          </a:xfrm>
          <a:prstGeom prst="roundRect">
            <a:avLst>
              <a:gd name="adj" fmla="val 1264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74472" y="1891427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15020" y="2674620"/>
            <a:ext cx="298275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Temporal Awareness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115020" y="3161467"/>
            <a:ext cx="580822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sophisticated 'before-and-after' and longitudinal analyses through explicit time metadata embedded within documents.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5691" y="2072164"/>
            <a:ext cx="6351151" cy="2445187"/>
          </a:xfrm>
          <a:prstGeom prst="roundRect">
            <a:avLst>
              <a:gd name="adj" fmla="val 5983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35691" y="2041684"/>
            <a:ext cx="6351151" cy="121920"/>
          </a:xfrm>
          <a:prstGeom prst="roundRect">
            <a:avLst>
              <a:gd name="adj" fmla="val 296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249674" y="1710690"/>
            <a:ext cx="723067" cy="723067"/>
          </a:xfrm>
          <a:prstGeom prst="roundRect">
            <a:avLst>
              <a:gd name="adj" fmla="val 1264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466606" y="1891427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707154" y="2674620"/>
            <a:ext cx="352389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Source-Backed Retrieval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707154" y="3161467"/>
            <a:ext cx="580822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Guarantees that all generated outputs are directly substantiated by retrieved policy documents, enhancing credibility and verifiability.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43558" y="5119807"/>
            <a:ext cx="6351151" cy="2445187"/>
          </a:xfrm>
          <a:prstGeom prst="roundRect">
            <a:avLst>
              <a:gd name="adj" fmla="val 5983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3558" y="5089327"/>
            <a:ext cx="6351151" cy="121920"/>
          </a:xfrm>
          <a:prstGeom prst="roundRect">
            <a:avLst>
              <a:gd name="adj" fmla="val 296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540" y="4758333"/>
            <a:ext cx="723067" cy="723067"/>
          </a:xfrm>
          <a:prstGeom prst="roundRect">
            <a:avLst>
              <a:gd name="adj" fmla="val 1264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74472" y="493907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15020" y="5722263"/>
            <a:ext cx="4928949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Stakeholder-Aware Categorisation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1115020" y="6209109"/>
            <a:ext cx="580822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Organises policies intelligently by their relevant domains and the specific groups they impact, providing granular insights.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7435691" y="5119807"/>
            <a:ext cx="6351151" cy="2445187"/>
          </a:xfrm>
          <a:prstGeom prst="roundRect">
            <a:avLst>
              <a:gd name="adj" fmla="val 5983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35691" y="5089327"/>
            <a:ext cx="6351151" cy="121920"/>
          </a:xfrm>
          <a:prstGeom prst="roundRect">
            <a:avLst>
              <a:gd name="adj" fmla="val 296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249674" y="4758333"/>
            <a:ext cx="723067" cy="723067"/>
          </a:xfrm>
          <a:prstGeom prst="roundRect">
            <a:avLst>
              <a:gd name="adj" fmla="val 1264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466606" y="493907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7707154" y="5722263"/>
            <a:ext cx="273879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Data-First Design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7707154" y="6209109"/>
            <a:ext cx="580822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Emphasises superior ingestion, meticulous normalisation, and high-quality retrieval to ensure the utmost accuracy and relevance of information.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65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5025" y="2764155"/>
            <a:ext cx="7700963" cy="51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ChronoLens Data Lake Architecture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105025" y="3550682"/>
            <a:ext cx="10420231" cy="543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robust data lake architecture ensures data integrity, traceability, and the capability for reprocessing, providing unparalleled reliability for policy analysis.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025" y="4841796"/>
            <a:ext cx="3352562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238" y="5566648"/>
            <a:ext cx="2990136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Bronze Layer: Raw Ingestion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286238" y="6190178"/>
            <a:ext cx="2990136" cy="135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foundational layer stores raw, immutable policy documents in their original formats, such as PDFs and HTML pages, preserving their authenticity.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4569976"/>
            <a:ext cx="3352562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20013" y="5294828"/>
            <a:ext cx="2990136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Silver Layer: Cleaned &amp; Normalised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820013" y="5918359"/>
            <a:ext cx="2990136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silver layer processes the raw data, converting it into cleaned and normalised text formats, enriched with standardised metadata for consistency.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575" y="4298156"/>
            <a:ext cx="3352562" cy="1143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53788" y="5023009"/>
            <a:ext cx="2990136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Gold Layer: Curated for Retrieval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353788" y="5646539"/>
            <a:ext cx="2990136" cy="135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pinnacle of our architecture, the gold layer, holds meticulously curated, chunked, and time-aware records, specifically optimised for efficient and accurate retrieval.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707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22314" y="2649141"/>
            <a:ext cx="6494740" cy="49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ChronoLens RAG Workflow</a:t>
            </a:r>
            <a:endParaRPr lang="en-US" sz="3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314" y="3402806"/>
            <a:ext cx="4992886" cy="6946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95907" y="4271010"/>
            <a:ext cx="1973461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Query Processing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2495907" y="4621887"/>
            <a:ext cx="4645700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queries are initially processed by a sophisticated metadata-aware retrieval layer, ensuring context-rich search initiation.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402806"/>
            <a:ext cx="4992886" cy="6946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88793" y="4271010"/>
            <a:ext cx="1973461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Chunk Selection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7488793" y="4621887"/>
            <a:ext cx="4645700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Relevant document chunks are meticulously selected based on semantic similarity, specified time ranges, and applicable policy categories.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2314" y="5577007"/>
            <a:ext cx="4992886" cy="6946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95907" y="6445210"/>
            <a:ext cx="1973461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Evidence for LM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2495907" y="6796088"/>
            <a:ext cx="4645700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retrieved evidence is then systematically passed to the language model for precise summarisation and insightful comparison.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5577007"/>
            <a:ext cx="4992886" cy="69461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88793" y="6445210"/>
            <a:ext cx="1973461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Grounded Outputs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7488793" y="6796088"/>
            <a:ext cx="4645700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language model is strictly constrained to utilise only the retrieved content, guaranteeing explainable and fully grounded analytical outputs.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092" y="779740"/>
            <a:ext cx="9663112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Diverse Policy Categories Supported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923092" y="1855946"/>
            <a:ext cx="1278409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ChronoLens offers comprehensive support across a wide spectrum of policy categories, enabling targeted analysis for various public affairs domains.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092" y="2772727"/>
            <a:ext cx="555784" cy="555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3092" y="3606403"/>
            <a:ext cx="3345299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Women-Focused Policies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23092" y="4055507"/>
            <a:ext cx="407610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Addressing critical issues related to welfare, safety, and inclusion for women.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7088" y="2772727"/>
            <a:ext cx="555784" cy="5557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77088" y="3606403"/>
            <a:ext cx="2737247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&amp; Education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77088" y="4055507"/>
            <a:ext cx="407610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Covering policies on access, funding, and crucial educational reforms.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1085" y="2772727"/>
            <a:ext cx="555784" cy="5557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31085" y="3606403"/>
            <a:ext cx="25365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Healthcare Policies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31085" y="4055507"/>
            <a:ext cx="407610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Encompassing public health initiatives, insurance frameworks, and infrastructure development.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092" y="5500211"/>
            <a:ext cx="555784" cy="5557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3092" y="6333887"/>
            <a:ext cx="25265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Traffic &amp; Transport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923092" y="6782991"/>
            <a:ext cx="407610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Focusing on mobility solutions and strategic urban planning for efficient transport.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7088" y="5500211"/>
            <a:ext cx="555784" cy="5557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77088" y="6333887"/>
            <a:ext cx="25265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Taxation &amp; Fiscal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5277088" y="6782991"/>
            <a:ext cx="407610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Related to revenue generation, compliance regulations, and broader economic policy.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76626"/>
            <a:ext cx="804291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 Stack &amp; Project Status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77153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65923" y="285630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Language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65923" y="3354943"/>
            <a:ext cx="549497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primarily using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leveraging its extensive libraries for data science and AI.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69386" y="277153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71510" y="285630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Processing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71510" y="3354943"/>
            <a:ext cx="549509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 custom-built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ingestion and normalisation pipelines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handle diverse policy document formats.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3798" y="495907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665923" y="504384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65923" y="5542478"/>
            <a:ext cx="549497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Utilises a robust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layered data lake (Bronze / Silver / Gold)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ensuring data integrity and accessibility.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69386" y="495907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71510" y="504384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Retrieval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71510" y="5542478"/>
            <a:ext cx="549509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Incorporates advanced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vector-based semantic search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highly accurate and contextually relevant results.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695</Words>
  <Application>Microsoft Office PowerPoint</Application>
  <PresentationFormat>Custom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Source Sans 3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Manasvi Vongur</cp:lastModifiedBy>
  <cp:revision>1</cp:revision>
  <dcterms:created xsi:type="dcterms:W3CDTF">2026-01-22T06:11:54Z</dcterms:created>
  <dcterms:modified xsi:type="dcterms:W3CDTF">2026-01-23T03:07:59Z</dcterms:modified>
</cp:coreProperties>
</file>